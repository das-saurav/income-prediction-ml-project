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Amatic SC"/>
      <p:regular r:id="rId10"/>
      <p:bold r:id="rId11"/>
    </p:embeddedFont>
    <p:embeddedFont>
      <p:font typeface="Source Code Pr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5840F3-165F-4BC7-A82B-28FCA237ED26}">
  <a:tblStyle styleId="{FB5840F3-165F-4BC7-A82B-28FCA237ED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maticSC-bold.fntdata"/><Relationship Id="rId10" Type="http://schemas.openxmlformats.org/officeDocument/2006/relationships/font" Target="fonts/AmaticSC-regular.fntdata"/><Relationship Id="rId13" Type="http://schemas.openxmlformats.org/officeDocument/2006/relationships/font" Target="fonts/SourceCodePro-bold.fntdata"/><Relationship Id="rId12" Type="http://schemas.openxmlformats.org/officeDocument/2006/relationships/font" Target="fonts/SourceCode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SourceCodePro-boldItalic.fntdata"/><Relationship Id="rId14" Type="http://schemas.openxmlformats.org/officeDocument/2006/relationships/font" Target="fonts/SourceCodePr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fb405008b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9fb405008b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fb405008b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fb405008b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fb405008b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fb405008b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265500" y="921086"/>
            <a:ext cx="4045200" cy="12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860"/>
              <a:t>Project overview and objective</a:t>
            </a:r>
            <a:endParaRPr sz="476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265500" y="2845229"/>
            <a:ext cx="4045200" cy="15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38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Title:</a:t>
            </a:r>
            <a:r>
              <a:rPr b="1" lang="en-GB" sz="38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i="1" lang="en-GB" sz="38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Predicting Income Level Using Machine Learning</a:t>
            </a:r>
            <a:endParaRPr i="1" sz="38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9499"/>
              <a:buFont typeface="Arial"/>
              <a:buNone/>
            </a:pPr>
            <a:r>
              <a:t/>
            </a:r>
            <a:endParaRPr sz="2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9600"/>
              <a:buFont typeface="Arial"/>
              <a:buNone/>
            </a:pPr>
            <a:r>
              <a:rPr b="1" lang="en-GB" sz="25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Goal </a:t>
            </a:r>
            <a:r>
              <a:rPr lang="en-GB" sz="25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- Predict whether an individual earns &gt;50K annually using demographic and financial features.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939500" y="3098025"/>
            <a:ext cx="3837000" cy="13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-GB" sz="1170"/>
              <a:t>Key Steps :</a:t>
            </a:r>
            <a:endParaRPr b="1" sz="117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170"/>
          </a:p>
          <a:p>
            <a:pPr indent="-30289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70"/>
              <a:buChar char="●"/>
            </a:pPr>
            <a:r>
              <a:rPr lang="en-GB" sz="1170"/>
              <a:t>Data Cleaning &amp; Feature Engineering</a:t>
            </a:r>
            <a:endParaRPr sz="1170"/>
          </a:p>
          <a:p>
            <a:pPr indent="-30289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70"/>
              <a:buChar char="●"/>
            </a:pPr>
            <a:r>
              <a:rPr lang="en-GB" sz="1170"/>
              <a:t>Exploratory Analysis</a:t>
            </a:r>
            <a:endParaRPr sz="1170"/>
          </a:p>
          <a:p>
            <a:pPr indent="-30289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70"/>
              <a:buChar char="●"/>
            </a:pPr>
            <a:r>
              <a:rPr lang="en-GB" sz="1170"/>
              <a:t>Model Building &amp; Evaluation</a:t>
            </a:r>
            <a:endParaRPr sz="117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17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960"/>
          </a:p>
        </p:txBody>
      </p:sp>
      <p:pic>
        <p:nvPicPr>
          <p:cNvPr id="59" name="Google Shape;59;p13" title="ml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1950" y="388705"/>
            <a:ext cx="4292100" cy="24565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6233100" y="4696325"/>
            <a:ext cx="275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Submitted by</a:t>
            </a:r>
            <a:r>
              <a:rPr lang="en-GB" sz="12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: Saurav Kumar Das</a:t>
            </a:r>
            <a:endParaRPr sz="12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265500" y="7242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Insights &amp; EDA Learnings</a:t>
            </a:r>
            <a:endParaRPr/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265500" y="3073788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Title:</a:t>
            </a:r>
            <a:r>
              <a:rPr i="1" lang="en-GB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Understanding the Data &amp; Early Insights</a:t>
            </a:r>
            <a:endParaRPr i="1" sz="27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rgbClr val="000000"/>
                </a:solidFill>
              </a:rPr>
              <a:t>Key Observations:</a:t>
            </a:r>
            <a:endParaRPr b="1" i="1" sz="11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</a:rPr>
              <a:t>Data has one </a:t>
            </a:r>
            <a:r>
              <a:rPr b="1" lang="en-GB" sz="1000">
                <a:solidFill>
                  <a:srgbClr val="000000"/>
                </a:solidFill>
              </a:rPr>
              <a:t>unwanted column and </a:t>
            </a:r>
            <a:r>
              <a:rPr b="1" lang="en-GB" sz="1000">
                <a:solidFill>
                  <a:srgbClr val="000000"/>
                </a:solidFill>
              </a:rPr>
              <a:t>weird</a:t>
            </a:r>
            <a:r>
              <a:rPr b="1" lang="en-GB" sz="1000">
                <a:solidFill>
                  <a:srgbClr val="000000"/>
                </a:solidFill>
              </a:rPr>
              <a:t> entries</a:t>
            </a:r>
            <a:r>
              <a:rPr lang="en-GB" sz="1000">
                <a:solidFill>
                  <a:srgbClr val="000000"/>
                </a:solidFill>
              </a:rPr>
              <a:t>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</a:rPr>
              <a:t>Every </a:t>
            </a:r>
            <a:r>
              <a:rPr b="1" lang="en-GB" sz="1000">
                <a:solidFill>
                  <a:srgbClr val="000000"/>
                </a:solidFill>
              </a:rPr>
              <a:t>numerical</a:t>
            </a:r>
            <a:r>
              <a:rPr b="1" lang="en-GB" sz="1000">
                <a:solidFill>
                  <a:srgbClr val="000000"/>
                </a:solidFill>
              </a:rPr>
              <a:t> column has outliers</a:t>
            </a:r>
            <a:r>
              <a:rPr lang="en-GB" sz="1000">
                <a:solidFill>
                  <a:srgbClr val="000000"/>
                </a:solidFill>
              </a:rPr>
              <a:t> present in them.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</a:rPr>
              <a:t>Higher </a:t>
            </a:r>
            <a:r>
              <a:rPr b="1" lang="en-GB" sz="1000">
                <a:solidFill>
                  <a:srgbClr val="000000"/>
                </a:solidFill>
              </a:rPr>
              <a:t>education levels</a:t>
            </a:r>
            <a:r>
              <a:rPr lang="en-GB" sz="1000">
                <a:solidFill>
                  <a:srgbClr val="000000"/>
                </a:solidFill>
              </a:rPr>
              <a:t> strongly correlate with higher income.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-GB" sz="1000">
                <a:solidFill>
                  <a:srgbClr val="000000"/>
                </a:solidFill>
              </a:rPr>
              <a:t>Marital </a:t>
            </a:r>
            <a:r>
              <a:rPr lang="en-GB" sz="1000">
                <a:solidFill>
                  <a:srgbClr val="000000"/>
                </a:solidFill>
              </a:rPr>
              <a:t>and </a:t>
            </a:r>
            <a:r>
              <a:rPr b="1" lang="en-GB" sz="1000">
                <a:solidFill>
                  <a:srgbClr val="000000"/>
                </a:solidFill>
              </a:rPr>
              <a:t>relationship status</a:t>
            </a:r>
            <a:r>
              <a:rPr lang="en-GB" sz="1000">
                <a:solidFill>
                  <a:srgbClr val="000000"/>
                </a:solidFill>
              </a:rPr>
              <a:t> show strong economic influence.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-GB" sz="1000">
                <a:solidFill>
                  <a:srgbClr val="000000"/>
                </a:solidFill>
              </a:rPr>
              <a:t>Capital gain/loss</a:t>
            </a:r>
            <a:r>
              <a:rPr lang="en-GB" sz="1000">
                <a:solidFill>
                  <a:srgbClr val="000000"/>
                </a:solidFill>
              </a:rPr>
              <a:t> has noticeable outliers but high predictive power.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-GB" sz="1000">
                <a:solidFill>
                  <a:srgbClr val="000000"/>
                </a:solidFill>
              </a:rPr>
              <a:t>Hours per week</a:t>
            </a:r>
            <a:r>
              <a:rPr lang="en-GB" sz="1000">
                <a:solidFill>
                  <a:srgbClr val="000000"/>
                </a:solidFill>
              </a:rPr>
              <a:t> and </a:t>
            </a:r>
            <a:r>
              <a:rPr b="1" lang="en-GB" sz="1000">
                <a:solidFill>
                  <a:srgbClr val="000000"/>
                </a:solidFill>
              </a:rPr>
              <a:t>age</a:t>
            </a:r>
            <a:r>
              <a:rPr lang="en-GB" sz="1000">
                <a:solidFill>
                  <a:srgbClr val="000000"/>
                </a:solidFill>
              </a:rPr>
              <a:t> moderately impacts income probability.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Modeling Strategy &amp; Results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Title:</a:t>
            </a:r>
            <a:r>
              <a:rPr lang="en-GB" sz="13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i="1" lang="en-GB" sz="13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Choosing the Right Model</a:t>
            </a:r>
            <a:endParaRPr i="1" sz="13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1" lang="en-GB" sz="1000">
                <a:solidFill>
                  <a:srgbClr val="000000"/>
                </a:solidFill>
              </a:rPr>
              <a:t>Tree-based models chosen</a:t>
            </a:r>
            <a:r>
              <a:rPr lang="en-GB" sz="1000">
                <a:solidFill>
                  <a:srgbClr val="000000"/>
                </a:solidFill>
              </a:rPr>
              <a:t> due to non-linear relationships and robustness to scaling.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GB" sz="1000">
                <a:solidFill>
                  <a:srgbClr val="000000"/>
                </a:solidFill>
              </a:rPr>
              <a:t>As this is an income data which </a:t>
            </a:r>
            <a:r>
              <a:rPr b="1" lang="en-GB" sz="1000">
                <a:solidFill>
                  <a:srgbClr val="000000"/>
                </a:solidFill>
              </a:rPr>
              <a:t>contains many natural outliers</a:t>
            </a:r>
            <a:r>
              <a:rPr lang="en-GB" sz="1000">
                <a:solidFill>
                  <a:srgbClr val="000000"/>
                </a:solidFill>
              </a:rPr>
              <a:t>, these models can handle them without the need for removing.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-GB" sz="1000">
                <a:solidFill>
                  <a:srgbClr val="000000"/>
                </a:solidFill>
              </a:rPr>
              <a:t>Best Model Performance: 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Title:</a:t>
            </a:r>
            <a:r>
              <a:rPr lang="en-GB" sz="13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i="1" lang="en-GB" sz="13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Key Takeaways &amp; Future Direction</a:t>
            </a:r>
            <a:endParaRPr i="1" sz="13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rgbClr val="000000"/>
                </a:solidFill>
              </a:rPr>
              <a:t>Insights</a:t>
            </a:r>
            <a:r>
              <a:rPr i="1" lang="en-GB" sz="1100">
                <a:solidFill>
                  <a:srgbClr val="000000"/>
                </a:solidFill>
              </a:rPr>
              <a:t>:</a:t>
            </a:r>
            <a:endParaRPr i="1" sz="11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b="1" lang="en-GB" sz="1000">
                <a:solidFill>
                  <a:srgbClr val="000000"/>
                </a:solidFill>
              </a:rPr>
              <a:t>Data preprocessing quality</a:t>
            </a:r>
            <a:r>
              <a:rPr lang="en-GB" sz="1000">
                <a:solidFill>
                  <a:srgbClr val="000000"/>
                </a:solidFill>
              </a:rPr>
              <a:t> heavily determines model success.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-GB" sz="1000">
                <a:solidFill>
                  <a:srgbClr val="000000"/>
                </a:solidFill>
              </a:rPr>
              <a:t>After doing feature importance - </a:t>
            </a:r>
            <a:r>
              <a:rPr b="1" lang="en-GB" sz="1000">
                <a:solidFill>
                  <a:srgbClr val="000000"/>
                </a:solidFill>
              </a:rPr>
              <a:t>Relationship, Marital status, Capital gain and Number of years in education</a:t>
            </a:r>
            <a:r>
              <a:rPr lang="en-GB" sz="1000">
                <a:solidFill>
                  <a:srgbClr val="000000"/>
                </a:solidFill>
              </a:rPr>
              <a:t> came out as top features contributing to the income level of individuals.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Challenges:</a:t>
            </a:r>
            <a:endParaRPr b="1"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urce Code Pro"/>
              <a:buChar char="●"/>
            </a:pPr>
            <a:r>
              <a:rPr lang="en-GB" sz="1000">
                <a:solidFill>
                  <a:srgbClr val="000000"/>
                </a:solidFill>
              </a:rPr>
              <a:t>Handling</a:t>
            </a:r>
            <a:r>
              <a:rPr lang="en-GB" sz="1000">
                <a:solidFill>
                  <a:srgbClr val="000000"/>
                </a:solidFill>
              </a:rPr>
              <a:t> </a:t>
            </a:r>
            <a:r>
              <a:rPr b="1" lang="en-GB" sz="1000">
                <a:solidFill>
                  <a:srgbClr val="000000"/>
                </a:solidFill>
              </a:rPr>
              <a:t>missing</a:t>
            </a:r>
            <a:r>
              <a:rPr b="1" lang="en-GB" sz="1000">
                <a:solidFill>
                  <a:srgbClr val="000000"/>
                </a:solidFill>
              </a:rPr>
              <a:t> data and outliers</a:t>
            </a:r>
            <a:r>
              <a:rPr lang="en-GB" sz="1000">
                <a:solidFill>
                  <a:srgbClr val="000000"/>
                </a:solidFill>
              </a:rPr>
              <a:t>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urce Code Pro"/>
              <a:buChar char="●"/>
            </a:pPr>
            <a:r>
              <a:rPr lang="en-GB" sz="1000">
                <a:solidFill>
                  <a:srgbClr val="000000"/>
                </a:solidFill>
              </a:rPr>
              <a:t>Selecting and balancing model accuracy along with interpretability.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</p:txBody>
      </p:sp>
      <p:graphicFrame>
        <p:nvGraphicFramePr>
          <p:cNvPr id="75" name="Google Shape;75;p15"/>
          <p:cNvGraphicFramePr/>
          <p:nvPr/>
        </p:nvGraphicFramePr>
        <p:xfrm>
          <a:off x="893784" y="29723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{FB5840F3-165F-4BC7-A82B-28FCA237ED26}</a:tableStyleId>
              </a:tblPr>
              <a:tblGrid>
                <a:gridCol w="702950"/>
                <a:gridCol w="702950"/>
                <a:gridCol w="702950"/>
                <a:gridCol w="702950"/>
              </a:tblGrid>
              <a:tr h="19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Model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Accuracy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F1-Score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ROC_AUC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17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900"/>
                        <a:t>XGBoost</a:t>
                      </a:r>
                      <a:endParaRPr b="1" i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87.5%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0.72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0.80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